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every critical user journey for wenmeet, from core scheduling through v2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journeys, one row each. Color is semantic only: teal = open/uncertain, gold = locked, amber = rescheduling. Nebula density ∝ certainty throughout.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Journey map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Blank slate. One field, constraint chips — no grid yet. AI drafts the ask in first person; ⓘ hides reasoning. Tiny orb appears — fast, scattered. Week grid with AI-suggested windows (gold tint). Tap to veto. Waiting state. Corner orb grows into the empty space — motion is the status indicator, no spinner.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landing: no account needed, grid front and center. Drag-paint free / if-need-be (half tint). Orb shadows the gesture. Calendar-aware nudge — AI flags a clash but never edits your paint. Submit = visible effect on the shared orb. Your response literally adds mass.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Threshold moment. The orb takes over the grid for ~2s — the "thinking" beat from the motion comp. Reveal. One proposal, first person, alternates behind a button — not a ranked wall. Reasoning on ⓘ tap only — trust without chatter. Locked end-state. Motion nearly stops; the nebula becomes a quiet confirmation object.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Conflict detected. The locked orb visibly destabilizes before any words appear. Organizer chooses; AI never re-books on its own. Re-compute reuses everyone's availability. Amber swirl = working, not broken. Re-lock with visible history — the strikethrough keeps trust in what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 overview: meeting star center, 6 attendee nodes, teal halo = Diego + Sana co-located in SF. Dragging Priya: swirl intensifies, neighbors get tugged along their links. Drop inside SF halo → she joins that cluster. Halo firms up solid; copy confirms the meaning. Alt drop targets: onto Amara's node = pair remotely; open space = re-settle home (speed-7 ease). Artifacts (agenda, docs) attach as square nodes — the meeting accretes knowledge before it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Hero: the nebula IS the hero image — particles are team voices. Hover a particle → a creator quote surfaces. Names/quotes still placeholder. Scroll: features told as states, not bullet lists. CTA closes the loop into the create CUJ.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layouts for the reveal beat in 1d · mobile 1c · keep-partial branch of 1e · three CUJs the map didn't cover.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else recedes; the orb is the only object. Collapse animation: 6 voices condense into one slot. Copy arrives after the motion. Best for the marketing/video moment; heaviest in daily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Orb shrinks and docks onto the winning cell — context never leaves the grid. Popover on the cell; "Why not Wed?" invites interrogating any other slot. Calmest option; the grid itself becomes the confirmation. Best for daily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Ranked ledger always visible — top pick bold, runners-up honest about who they miss. Tap any alternate to see its tradeoffs — reasoning is browsable, not just a ⓘ. Organizer can overrule the AI; it acknowledges without arguing. Most control, most chrome.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day per screen, 3 columns — cells ≥44px tall for thumbs. Thumb-paint; long-press toggles the half-state instead of a mode switch. Nudge as a bottom sheet — full-width tap targets. Done state fits one screen; orb is the receipt.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 path added: keep the slot, keep Diego — just not live. Partial = a defined contract, not a shrug. Dashed-gold avatar marks async attendance. The lock state honestly shows it's 5-live-1-async — certainty with an asterisk. Loop closes post-meeting; the orb only fully settles when the async voice lands.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Failure state has its own motion: the orb visibly can't converge. AI names the cheapest ask, but the human sends it — no auto-nagging. One-tap flex request on the invitee side; "Can't" is a first-class answer. Both exits converge on known states — negotiate or degrade gracefully.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meeting graph, adding = dragging a person onto the locked star. Happy path: calendar check passes, gold stays gold. Conflict path routes into existing loops — optional uses the 2e contract, re-run enters 1e.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Series offer only after a successful single lock — cadence is earned, not default. Each occurrence carries its own state; the amber one needs attention. Per-occurrence repair without touching the series — reuses the 1e loop scoped to one orb.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Extends the 1f graph: drag multiple nodes into a new cluster → it becomes a persistent blob → a live room anyone enters by dragging their node in. Blobs stay until clicked or closed (×). Flagged v2 — wireframed now so the graph physics are built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Inside any meeting graph: pull two+ nodes together — same gesture as the 1f drop-zones. Proximity + hold spawns a proto-blob — a new mini-nebula, teal and swirling (uncertain: not live yet). Confirm beat — accidental drags cost nothing. "Blob for later" parks it on the canvas. Live blob: solid teal ring, filled member nodes, name label, × in the corner. Rest of graph untouched.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Anyone drags their OWN node toward a live blob — the ring brightens as you approach (magnetic). Crossing the ring = entering the room. Video tiles, no join-link ceremony; the graph stays one tap away. Leaving is the reverse gesture — no "Leave meeting?" dialog. Your node re-settles in the main graph. Presence is ambient: the blob shows its occupants live, so joining is informed, never a blind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Empty blobs idle (dashed, slow swirl) but STAY on the canvas — standing rooms, not ephemeral calls. Click = peek card, never auto-join. "Schedule" converts the blob into a full nebula meet (routes to 1b with members pre-filled). × closes a blob. If it ever went live, its artifacts fold back into the parent meeting's graph (1f squares) — nothing lost. After close: canvas returns to 1f state plus the artifact — the breakout leaves a trace, not clutter.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 setup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500438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8ED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WENMEET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4157663"/>
            <a:ext cx="1760220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9000" dirty="0">
                <a:solidFill>
                  <a:srgbClr val="FFFFFF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CUJ Wireframes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1143000" y="5700713"/>
            <a:ext cx="176022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CFCAC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Nebula scheduling: core journeys, variations, and v2 breakouts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1143000" y="6619875"/>
            <a:ext cx="304800" cy="304800"/>
          </a:xfrm>
          <a:prstGeom prst="ellipse">
            <a:avLst/>
          </a:prstGeom>
          <a:ln w="28575">
            <a:solidFill>
              <a:srgbClr val="2DD4BF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581150" y="6567488"/>
            <a:ext cx="56688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FCAC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open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2452836" y="6619875"/>
            <a:ext cx="304800" cy="304800"/>
          </a:xfrm>
          <a:prstGeom prst="ellipse">
            <a:avLst/>
          </a:prstGeom>
          <a:ln w="28575">
            <a:solidFill>
              <a:srgbClr val="E0B4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90986" y="6567488"/>
            <a:ext cx="71556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FCAC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locked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3911352" y="6619875"/>
            <a:ext cx="304800" cy="304800"/>
          </a:xfrm>
          <a:prstGeom prst="ellipse">
            <a:avLst/>
          </a:prstGeom>
          <a:ln w="28575">
            <a:solidFill>
              <a:srgbClr val="F59E0B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349502" y="6567488"/>
            <a:ext cx="147552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FCAC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rescheduling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D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757613"/>
            <a:ext cx="17602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8ED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1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143000" y="4433888"/>
            <a:ext cx="176022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538"/>
              </a:lnSpc>
              <a:buNone/>
            </a:pPr>
            <a:r>
              <a:rPr lang="en-US" sz="7200" dirty="0">
                <a:solidFill>
                  <a:srgbClr val="FFFFFF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Core journeys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143000" y="5729288"/>
            <a:ext cx="14716125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CFCAC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Six journeys, one row each. Color is semantic only: teal = open/uncertain, gold = locked, amber = rescheduling. Nebula density ∝ certainty throughout.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42963"/>
            <a:ext cx="634603" cy="466725"/>
          </a:xfrm>
          <a:prstGeom prst="roundRect">
            <a:avLst>
              <a:gd name="adj" fmla="val 16327"/>
            </a:avLst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919162"/>
            <a:ext cx="4060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815703" y="762000"/>
            <a:ext cx="286739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88"/>
              </a:lnSpc>
              <a:buNone/>
            </a:pPr>
            <a:r>
              <a:rPr lang="en-US" sz="4500" dirty="0">
                <a:solidFill>
                  <a:srgbClr val="1A1A1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Journey map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1524000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000000">
                    <a:alpha val="60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how the CUJs connect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789682" y="3004245"/>
            <a:ext cx="16708636" cy="5812036"/>
          </a:xfrm>
          <a:prstGeom prst="roundRect">
            <a:avLst>
              <a:gd name="adj" fmla="val 2557"/>
            </a:avLst>
          </a:prstGeom>
          <a:solidFill>
            <a:srgbClr val="FFFFFF"/>
          </a:solidFill>
          <a:ln w="33338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70046" dir="27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682" y="3004245"/>
            <a:ext cx="16708636" cy="58120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42963"/>
            <a:ext cx="634603" cy="466725"/>
          </a:xfrm>
          <a:prstGeom prst="roundRect">
            <a:avLst>
              <a:gd name="adj" fmla="val 16327"/>
            </a:avLst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919162"/>
            <a:ext cx="4060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1b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815703" y="762000"/>
            <a:ext cx="823482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88"/>
              </a:lnSpc>
              <a:buNone/>
            </a:pPr>
            <a:r>
              <a:rPr lang="en-US" sz="4500" dirty="0">
                <a:solidFill>
                  <a:srgbClr val="1A1A1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CUJ 1 · Organizer creates a meeting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1524000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000000">
                    <a:alpha val="60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nebula is born chaotic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795040" y="36506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040" y="3650605"/>
            <a:ext cx="3750915" cy="31611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040" y="69002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1B-1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95040" y="7255520"/>
            <a:ext cx="386344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Blank slate. One field, constraint chips — no grid yet.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4651623" y="4747766"/>
            <a:ext cx="4296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82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782" dirty="0"/>
          </a:p>
        </p:txBody>
      </p:sp>
      <p:sp>
        <p:nvSpPr>
          <p:cNvPr id="11" name="Shape 8"/>
          <p:cNvSpPr/>
          <p:nvPr/>
        </p:nvSpPr>
        <p:spPr>
          <a:xfrm>
            <a:off x="5110758" y="36506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758" y="3650605"/>
            <a:ext cx="3750915" cy="316110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10758" y="69002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1B-2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110758" y="7255520"/>
            <a:ext cx="386344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AI drafts the ask in first person; ⓘ hides reasoning. Tiny orb appears — fast, scattered.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8967341" y="4747766"/>
            <a:ext cx="4296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82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782" dirty="0"/>
          </a:p>
        </p:txBody>
      </p:sp>
      <p:sp>
        <p:nvSpPr>
          <p:cNvPr id="16" name="Shape 12"/>
          <p:cNvSpPr/>
          <p:nvPr/>
        </p:nvSpPr>
        <p:spPr>
          <a:xfrm>
            <a:off x="9426476" y="36506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476" y="3650605"/>
            <a:ext cx="3750915" cy="316110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26476" y="69002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1B-3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9426476" y="7255520"/>
            <a:ext cx="386344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Week grid with AI-suggested windows (gold tint). Tap to veto.</a:t>
            </a:r>
            <a:endParaRPr lang="en-US" sz="1950" dirty="0"/>
          </a:p>
        </p:txBody>
      </p:sp>
      <p:sp>
        <p:nvSpPr>
          <p:cNvPr id="20" name="Text 15"/>
          <p:cNvSpPr/>
          <p:nvPr/>
        </p:nvSpPr>
        <p:spPr>
          <a:xfrm>
            <a:off x="13283059" y="4747766"/>
            <a:ext cx="4296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82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782" dirty="0"/>
          </a:p>
        </p:txBody>
      </p:sp>
      <p:sp>
        <p:nvSpPr>
          <p:cNvPr id="21" name="Shape 16"/>
          <p:cNvSpPr/>
          <p:nvPr/>
        </p:nvSpPr>
        <p:spPr>
          <a:xfrm>
            <a:off x="13742194" y="36506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2194" y="3650605"/>
            <a:ext cx="3750915" cy="316110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42194" y="69002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1B-4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13742194" y="7255520"/>
            <a:ext cx="386344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Waiting state. Corner orb grows into the empty space — motion is the status indicator, no spinner.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42963"/>
            <a:ext cx="634603" cy="466725"/>
          </a:xfrm>
          <a:prstGeom prst="roundRect">
            <a:avLst>
              <a:gd name="adj" fmla="val 16327"/>
            </a:avLst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919162"/>
            <a:ext cx="4060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1c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815703" y="762000"/>
            <a:ext cx="549004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88"/>
              </a:lnSpc>
              <a:buNone/>
            </a:pPr>
            <a:r>
              <a:rPr lang="en-US" sz="4500" dirty="0">
                <a:solidFill>
                  <a:srgbClr val="1A1A1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CUJ 2 · Invitee responds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1524000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000000">
                    <a:alpha val="60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painting availability calms the orb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795040" y="38030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040" y="3803005"/>
            <a:ext cx="3750915" cy="31611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040" y="70526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1C-1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95040" y="7407920"/>
            <a:ext cx="386344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Invite landing: no account needed, grid front and center.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4651623" y="4900166"/>
            <a:ext cx="4296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82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782" dirty="0"/>
          </a:p>
        </p:txBody>
      </p:sp>
      <p:sp>
        <p:nvSpPr>
          <p:cNvPr id="11" name="Shape 8"/>
          <p:cNvSpPr/>
          <p:nvPr/>
        </p:nvSpPr>
        <p:spPr>
          <a:xfrm>
            <a:off x="5110758" y="38030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758" y="3803005"/>
            <a:ext cx="3750915" cy="316110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10758" y="70526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1C-2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110758" y="7407920"/>
            <a:ext cx="386344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Drag-paint free / if-need-be (half tint). Orb shadows the gesture.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8967341" y="4900166"/>
            <a:ext cx="4296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82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782" dirty="0"/>
          </a:p>
        </p:txBody>
      </p:sp>
      <p:sp>
        <p:nvSpPr>
          <p:cNvPr id="16" name="Shape 12"/>
          <p:cNvSpPr/>
          <p:nvPr/>
        </p:nvSpPr>
        <p:spPr>
          <a:xfrm>
            <a:off x="9426476" y="38030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476" y="3803005"/>
            <a:ext cx="3750915" cy="316110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26476" y="70526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1C-3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9426476" y="7407920"/>
            <a:ext cx="386344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Calendar-aware nudge — AI flags a clash but never edits your paint.</a:t>
            </a:r>
            <a:endParaRPr lang="en-US" sz="1950" dirty="0"/>
          </a:p>
        </p:txBody>
      </p:sp>
      <p:sp>
        <p:nvSpPr>
          <p:cNvPr id="20" name="Text 15"/>
          <p:cNvSpPr/>
          <p:nvPr/>
        </p:nvSpPr>
        <p:spPr>
          <a:xfrm>
            <a:off x="13283059" y="4900166"/>
            <a:ext cx="4296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82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782" dirty="0"/>
          </a:p>
        </p:txBody>
      </p:sp>
      <p:sp>
        <p:nvSpPr>
          <p:cNvPr id="21" name="Shape 16"/>
          <p:cNvSpPr/>
          <p:nvPr/>
        </p:nvSpPr>
        <p:spPr>
          <a:xfrm>
            <a:off x="13742194" y="38030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2194" y="3803005"/>
            <a:ext cx="3750915" cy="316110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42194" y="70526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1C-4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13742194" y="7407920"/>
            <a:ext cx="386344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Submit = visible effect on the shared orb. Your response literally adds mass.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42963"/>
            <a:ext cx="634603" cy="466725"/>
          </a:xfrm>
          <a:prstGeom prst="roundRect">
            <a:avLst>
              <a:gd name="adj" fmla="val 16327"/>
            </a:avLst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919162"/>
            <a:ext cx="4060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815703" y="762000"/>
            <a:ext cx="617403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88"/>
              </a:lnSpc>
              <a:buNone/>
            </a:pPr>
            <a:r>
              <a:rPr lang="en-US" sz="4500" dirty="0">
                <a:solidFill>
                  <a:srgbClr val="1A1A1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CUJ 3 · AI proposes &amp; locks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1524000"/>
            <a:ext cx="180213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000000">
                    <a:alpha val="60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swirl → reveal → gold breathing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795040" y="3655368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040" y="3655368"/>
            <a:ext cx="3750915" cy="31611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040" y="6905030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1D-1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95040" y="7260282"/>
            <a:ext cx="386344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Threshold moment. The orb takes over the grid for ~2s — the "thinking" beat from the motion comp.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4651623" y="4752529"/>
            <a:ext cx="4296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82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782" dirty="0"/>
          </a:p>
        </p:txBody>
      </p:sp>
      <p:sp>
        <p:nvSpPr>
          <p:cNvPr id="11" name="Shape 8"/>
          <p:cNvSpPr/>
          <p:nvPr/>
        </p:nvSpPr>
        <p:spPr>
          <a:xfrm>
            <a:off x="5110758" y="3655368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758" y="3655368"/>
            <a:ext cx="3750915" cy="316110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10758" y="6905030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1D-2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110758" y="7260282"/>
            <a:ext cx="386344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Reveal. One proposal, first person, alternates behind a button — not a ranked wall.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8967341" y="4752529"/>
            <a:ext cx="4296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82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782" dirty="0"/>
          </a:p>
        </p:txBody>
      </p:sp>
      <p:sp>
        <p:nvSpPr>
          <p:cNvPr id="16" name="Shape 12"/>
          <p:cNvSpPr/>
          <p:nvPr/>
        </p:nvSpPr>
        <p:spPr>
          <a:xfrm>
            <a:off x="9426476" y="3655368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476" y="3655368"/>
            <a:ext cx="3750915" cy="316110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26476" y="6905030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1D-3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9426476" y="7260282"/>
            <a:ext cx="386344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Reasoning on ⓘ tap only — trust without chatter.</a:t>
            </a:r>
            <a:endParaRPr lang="en-US" sz="1950" dirty="0"/>
          </a:p>
        </p:txBody>
      </p:sp>
      <p:sp>
        <p:nvSpPr>
          <p:cNvPr id="20" name="Text 15"/>
          <p:cNvSpPr/>
          <p:nvPr/>
        </p:nvSpPr>
        <p:spPr>
          <a:xfrm>
            <a:off x="13283059" y="4752529"/>
            <a:ext cx="4296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82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782" dirty="0"/>
          </a:p>
        </p:txBody>
      </p:sp>
      <p:sp>
        <p:nvSpPr>
          <p:cNvPr id="21" name="Shape 16"/>
          <p:cNvSpPr/>
          <p:nvPr/>
        </p:nvSpPr>
        <p:spPr>
          <a:xfrm>
            <a:off x="13742194" y="3655368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2194" y="3655368"/>
            <a:ext cx="3750915" cy="316110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42194" y="6905030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1D-4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13742194" y="7260282"/>
            <a:ext cx="386344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Locked end-state. Motion nearly stops; the nebula becomes a quiet confirmation object.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42963"/>
            <a:ext cx="634603" cy="466725"/>
          </a:xfrm>
          <a:prstGeom prst="roundRect">
            <a:avLst>
              <a:gd name="adj" fmla="val 16327"/>
            </a:avLst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919162"/>
            <a:ext cx="4060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815703" y="762000"/>
            <a:ext cx="5255612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88"/>
              </a:lnSpc>
              <a:buNone/>
            </a:pPr>
            <a:r>
              <a:rPr lang="en-US" sz="4500" dirty="0">
                <a:solidFill>
                  <a:srgbClr val="1A1A1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CUJ 4 · Reschedule loop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1524000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000000">
                    <a:alpha val="60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gold flickers amber, then re-locks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795040" y="38030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040" y="3803005"/>
            <a:ext cx="3750915" cy="31611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040" y="70526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1E-1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95040" y="7407920"/>
            <a:ext cx="386344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Conflict detected. The locked orb visibly destabilizes before any words appear.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4651623" y="4900166"/>
            <a:ext cx="4296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82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782" dirty="0"/>
          </a:p>
        </p:txBody>
      </p:sp>
      <p:sp>
        <p:nvSpPr>
          <p:cNvPr id="11" name="Shape 8"/>
          <p:cNvSpPr/>
          <p:nvPr/>
        </p:nvSpPr>
        <p:spPr>
          <a:xfrm>
            <a:off x="5110758" y="38030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758" y="3803005"/>
            <a:ext cx="3750915" cy="316110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10758" y="70526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1E-2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110758" y="7407920"/>
            <a:ext cx="386344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Organizer chooses; AI never re-books on its own.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8967341" y="4900166"/>
            <a:ext cx="4296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82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782" dirty="0"/>
          </a:p>
        </p:txBody>
      </p:sp>
      <p:sp>
        <p:nvSpPr>
          <p:cNvPr id="16" name="Shape 12"/>
          <p:cNvSpPr/>
          <p:nvPr/>
        </p:nvSpPr>
        <p:spPr>
          <a:xfrm>
            <a:off x="9426476" y="38030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476" y="3803005"/>
            <a:ext cx="3750915" cy="316110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26476" y="70526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1E-3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9426476" y="7407920"/>
            <a:ext cx="386344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Re-compute reuses everyone's availability. Amber swirl = working, not broken.</a:t>
            </a:r>
            <a:endParaRPr lang="en-US" sz="1950" dirty="0"/>
          </a:p>
        </p:txBody>
      </p:sp>
      <p:sp>
        <p:nvSpPr>
          <p:cNvPr id="20" name="Text 15"/>
          <p:cNvSpPr/>
          <p:nvPr/>
        </p:nvSpPr>
        <p:spPr>
          <a:xfrm>
            <a:off x="13283059" y="4900166"/>
            <a:ext cx="4296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82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782" dirty="0"/>
          </a:p>
        </p:txBody>
      </p:sp>
      <p:sp>
        <p:nvSpPr>
          <p:cNvPr id="21" name="Shape 16"/>
          <p:cNvSpPr/>
          <p:nvPr/>
        </p:nvSpPr>
        <p:spPr>
          <a:xfrm>
            <a:off x="13742194" y="38030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2194" y="3803005"/>
            <a:ext cx="3750915" cy="316110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42194" y="70526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1E-4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13742194" y="7407920"/>
            <a:ext cx="386344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Re-lock with visible history — the strikethrough keeps trust in what changed.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42963"/>
            <a:ext cx="634603" cy="466725"/>
          </a:xfrm>
          <a:prstGeom prst="roundRect">
            <a:avLst>
              <a:gd name="adj" fmla="val 16327"/>
            </a:avLst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919162"/>
            <a:ext cx="4060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1f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815703" y="762000"/>
            <a:ext cx="6385873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88"/>
              </a:lnSpc>
              <a:buNone/>
            </a:pPr>
            <a:r>
              <a:rPr lang="en-US" sz="4500" dirty="0">
                <a:solidFill>
                  <a:srgbClr val="1A1A1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CUJ 5 · Meeting space graph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1524000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000000">
                    <a:alpha val="60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drag Priya, drop-zone semantics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780901" y="4020145"/>
            <a:ext cx="2984153" cy="2515493"/>
          </a:xfrm>
          <a:prstGeom prst="roundRect">
            <a:avLst>
              <a:gd name="adj" fmla="val 3370"/>
            </a:avLst>
          </a:prstGeom>
          <a:solidFill>
            <a:srgbClr val="FFFFFF"/>
          </a:solidFill>
          <a:ln w="19050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0411" dir="27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901" y="4020145"/>
            <a:ext cx="2984153" cy="25154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0901" y="6606034"/>
            <a:ext cx="32825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1F-1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0901" y="6943130"/>
            <a:ext cx="307367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Graph overview: meeting star center, 6 attendee nodes, teal halo = Diego + Sana co-located in SF.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849737" y="4892576"/>
            <a:ext cx="35822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20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220" dirty="0"/>
          </a:p>
        </p:txBody>
      </p:sp>
      <p:sp>
        <p:nvSpPr>
          <p:cNvPr id="11" name="Shape 8"/>
          <p:cNvSpPr/>
          <p:nvPr/>
        </p:nvSpPr>
        <p:spPr>
          <a:xfrm>
            <a:off x="4216450" y="4020145"/>
            <a:ext cx="2984153" cy="2515493"/>
          </a:xfrm>
          <a:prstGeom prst="roundRect">
            <a:avLst>
              <a:gd name="adj" fmla="val 3370"/>
            </a:avLst>
          </a:prstGeom>
          <a:solidFill>
            <a:srgbClr val="FFFFFF"/>
          </a:solidFill>
          <a:ln w="19050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0411" dir="27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450" y="4020145"/>
            <a:ext cx="2984153" cy="25154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16450" y="6606034"/>
            <a:ext cx="32825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1F-2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216450" y="6943130"/>
            <a:ext cx="307367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Dragging Priya: swirl intensifies, neighbors get tugged along their links.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285286" y="4892576"/>
            <a:ext cx="35822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20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220" dirty="0"/>
          </a:p>
        </p:txBody>
      </p:sp>
      <p:sp>
        <p:nvSpPr>
          <p:cNvPr id="16" name="Shape 12"/>
          <p:cNvSpPr/>
          <p:nvPr/>
        </p:nvSpPr>
        <p:spPr>
          <a:xfrm>
            <a:off x="7651998" y="4020145"/>
            <a:ext cx="2984153" cy="2515493"/>
          </a:xfrm>
          <a:prstGeom prst="roundRect">
            <a:avLst>
              <a:gd name="adj" fmla="val 3370"/>
            </a:avLst>
          </a:prstGeom>
          <a:solidFill>
            <a:srgbClr val="FFFFFF"/>
          </a:solidFill>
          <a:ln w="19050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0411" dir="27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998" y="4020145"/>
            <a:ext cx="2984153" cy="25154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651998" y="6606034"/>
            <a:ext cx="32825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1F-3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7651998" y="6943130"/>
            <a:ext cx="307367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Drop inside SF halo → she joins that cluster. Halo firms up solid; copy confirms the meaning.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0720834" y="4892576"/>
            <a:ext cx="35822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20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220" dirty="0"/>
          </a:p>
        </p:txBody>
      </p:sp>
      <p:sp>
        <p:nvSpPr>
          <p:cNvPr id="21" name="Shape 16"/>
          <p:cNvSpPr/>
          <p:nvPr/>
        </p:nvSpPr>
        <p:spPr>
          <a:xfrm>
            <a:off x="11087546" y="4020145"/>
            <a:ext cx="2984153" cy="2515493"/>
          </a:xfrm>
          <a:prstGeom prst="roundRect">
            <a:avLst>
              <a:gd name="adj" fmla="val 3370"/>
            </a:avLst>
          </a:prstGeom>
          <a:solidFill>
            <a:srgbClr val="FFFFFF"/>
          </a:solidFill>
          <a:ln w="19050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0411" dir="2700000">
              <a:srgbClr val="000000">
                <a:alpha val="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546" y="4020145"/>
            <a:ext cx="2984153" cy="25154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087546" y="6606034"/>
            <a:ext cx="32825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1F-4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11087546" y="6943130"/>
            <a:ext cx="307367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Alt drop targets: onto Amara's node = pair remotely; open space = re-settle home (speed-7 ease).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14156382" y="4892576"/>
            <a:ext cx="35822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20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220" dirty="0"/>
          </a:p>
        </p:txBody>
      </p:sp>
      <p:sp>
        <p:nvSpPr>
          <p:cNvPr id="26" name="Shape 20"/>
          <p:cNvSpPr/>
          <p:nvPr/>
        </p:nvSpPr>
        <p:spPr>
          <a:xfrm>
            <a:off x="14523095" y="4020145"/>
            <a:ext cx="2984153" cy="2515493"/>
          </a:xfrm>
          <a:prstGeom prst="roundRect">
            <a:avLst>
              <a:gd name="adj" fmla="val 3370"/>
            </a:avLst>
          </a:prstGeom>
          <a:solidFill>
            <a:srgbClr val="FFFFFF"/>
          </a:solidFill>
          <a:ln w="19050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0411" dir="2700000">
              <a:srgbClr val="000000">
                <a:alpha val="8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23095" y="4020145"/>
            <a:ext cx="2984153" cy="251549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523095" y="6606034"/>
            <a:ext cx="32825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1F-5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14523095" y="6943130"/>
            <a:ext cx="307367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Artifacts (agenda, docs) attach as square nodes — the meeting accretes knowledge before it happens.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42963"/>
            <a:ext cx="634603" cy="466725"/>
          </a:xfrm>
          <a:prstGeom prst="roundRect">
            <a:avLst>
              <a:gd name="adj" fmla="val 16327"/>
            </a:avLst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919162"/>
            <a:ext cx="4060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815703" y="762000"/>
            <a:ext cx="3447589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88"/>
              </a:lnSpc>
              <a:buNone/>
            </a:pPr>
            <a:r>
              <a:rPr lang="en-US" sz="4500" dirty="0">
                <a:solidFill>
                  <a:srgbClr val="1A1A1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CUJ 6 · Landing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1524000"/>
            <a:ext cx="180213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000000">
                    <a:alpha val="60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team-voices nebula → first meeting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795040" y="3807768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040" y="3807768"/>
            <a:ext cx="3750915" cy="31611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040" y="7057430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1G-1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95040" y="7412682"/>
            <a:ext cx="386344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Hero: the nebula IS the hero image — particles are team voices.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4651623" y="4904929"/>
            <a:ext cx="4296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82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782" dirty="0"/>
          </a:p>
        </p:txBody>
      </p:sp>
      <p:sp>
        <p:nvSpPr>
          <p:cNvPr id="11" name="Shape 8"/>
          <p:cNvSpPr/>
          <p:nvPr/>
        </p:nvSpPr>
        <p:spPr>
          <a:xfrm>
            <a:off x="5110758" y="3807768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758" y="3807768"/>
            <a:ext cx="3750915" cy="316110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10758" y="7057430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1G-2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110758" y="7412682"/>
            <a:ext cx="386344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Hover a particle → a creator quote surfaces. Names/quotes still placeholder.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8967341" y="4904929"/>
            <a:ext cx="4296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82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782" dirty="0"/>
          </a:p>
        </p:txBody>
      </p:sp>
      <p:sp>
        <p:nvSpPr>
          <p:cNvPr id="16" name="Shape 12"/>
          <p:cNvSpPr/>
          <p:nvPr/>
        </p:nvSpPr>
        <p:spPr>
          <a:xfrm>
            <a:off x="9426476" y="3807768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476" y="3807768"/>
            <a:ext cx="3750915" cy="316110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26476" y="7057430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1G-3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9426476" y="7412682"/>
            <a:ext cx="386344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Scroll: features told as states, not bullet lists.</a:t>
            </a:r>
            <a:endParaRPr lang="en-US" sz="1950" dirty="0"/>
          </a:p>
        </p:txBody>
      </p:sp>
      <p:sp>
        <p:nvSpPr>
          <p:cNvPr id="20" name="Text 15"/>
          <p:cNvSpPr/>
          <p:nvPr/>
        </p:nvSpPr>
        <p:spPr>
          <a:xfrm>
            <a:off x="13283059" y="4904929"/>
            <a:ext cx="4296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82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782" dirty="0"/>
          </a:p>
        </p:txBody>
      </p:sp>
      <p:sp>
        <p:nvSpPr>
          <p:cNvPr id="21" name="Shape 16"/>
          <p:cNvSpPr/>
          <p:nvPr/>
        </p:nvSpPr>
        <p:spPr>
          <a:xfrm>
            <a:off x="13742194" y="3807768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2194" y="3807768"/>
            <a:ext cx="3750915" cy="316110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42194" y="7057430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1G-4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13742194" y="7412682"/>
            <a:ext cx="41260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CTA closes the loop into the create CUJ.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D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757613"/>
            <a:ext cx="17602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8ED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2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143000" y="4433888"/>
            <a:ext cx="176022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538"/>
              </a:lnSpc>
              <a:buNone/>
            </a:pPr>
            <a:r>
              <a:rPr lang="en-US" sz="7200" dirty="0">
                <a:solidFill>
                  <a:srgbClr val="FFFFFF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Riffs, mobile &amp; new journeys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143000" y="5729288"/>
            <a:ext cx="14716125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CFCAC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Three layouts for the reveal beat in 1d · mobile 1c · keep-partial branch of 1e · three CUJs the map didn't cover.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42963"/>
            <a:ext cx="634603" cy="466725"/>
          </a:xfrm>
          <a:prstGeom prst="roundRect">
            <a:avLst>
              <a:gd name="adj" fmla="val 16327"/>
            </a:avLst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919162"/>
            <a:ext cx="4060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815703" y="762000"/>
            <a:ext cx="75847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88"/>
              </a:lnSpc>
              <a:buNone/>
            </a:pPr>
            <a:r>
              <a:rPr lang="en-US" sz="4500" dirty="0">
                <a:solidFill>
                  <a:srgbClr val="1A1A1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Reveal riff A · Cinematic takeover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1524000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000000">
                    <a:alpha val="60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nebula collapses into the answer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809625" y="2909888"/>
            <a:ext cx="5048250" cy="4257675"/>
          </a:xfrm>
          <a:prstGeom prst="roundRect">
            <a:avLst>
              <a:gd name="adj" fmla="val 3356"/>
            </a:avLst>
          </a:prstGeom>
          <a:solidFill>
            <a:srgbClr val="FAF8F4"/>
          </a:solidFill>
          <a:ln w="33338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67352" dir="27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" y="2909888"/>
            <a:ext cx="5048250" cy="42576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9625" y="7286625"/>
            <a:ext cx="5553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2A-1</a:t>
            </a:r>
            <a:endParaRPr lang="en-US" sz="1875" dirty="0"/>
          </a:p>
        </p:txBody>
      </p:sp>
      <p:sp>
        <p:nvSpPr>
          <p:cNvPr id="9" name="Text 6"/>
          <p:cNvSpPr/>
          <p:nvPr/>
        </p:nvSpPr>
        <p:spPr>
          <a:xfrm>
            <a:off x="809625" y="7681912"/>
            <a:ext cx="5199698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22"/>
              </a:lnSpc>
              <a:buNone/>
            </a:pPr>
            <a:r>
              <a:rPr lang="en-US" sz="2625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Everything else recedes; the orb is the only object.</a:t>
            </a:r>
            <a:endParaRPr lang="en-US" sz="2625" dirty="0"/>
          </a:p>
        </p:txBody>
      </p:sp>
      <p:sp>
        <p:nvSpPr>
          <p:cNvPr id="10" name="Text 7"/>
          <p:cNvSpPr/>
          <p:nvPr/>
        </p:nvSpPr>
        <p:spPr>
          <a:xfrm>
            <a:off x="6000750" y="4386263"/>
            <a:ext cx="5524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3750" dirty="0"/>
          </a:p>
        </p:txBody>
      </p:sp>
      <p:sp>
        <p:nvSpPr>
          <p:cNvPr id="11" name="Shape 8"/>
          <p:cNvSpPr/>
          <p:nvPr/>
        </p:nvSpPr>
        <p:spPr>
          <a:xfrm>
            <a:off x="6619875" y="2909888"/>
            <a:ext cx="5048250" cy="4257675"/>
          </a:xfrm>
          <a:prstGeom prst="roundRect">
            <a:avLst>
              <a:gd name="adj" fmla="val 3356"/>
            </a:avLst>
          </a:prstGeom>
          <a:solidFill>
            <a:srgbClr val="FAF8F4"/>
          </a:solidFill>
          <a:ln w="33338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67352" dir="27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75" y="2909888"/>
            <a:ext cx="5048250" cy="42576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19875" y="7286625"/>
            <a:ext cx="5553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2A-2</a:t>
            </a:r>
            <a:endParaRPr lang="en-US" sz="1875" dirty="0"/>
          </a:p>
        </p:txBody>
      </p:sp>
      <p:sp>
        <p:nvSpPr>
          <p:cNvPr id="14" name="Text 10"/>
          <p:cNvSpPr/>
          <p:nvPr/>
        </p:nvSpPr>
        <p:spPr>
          <a:xfrm>
            <a:off x="6619875" y="7681912"/>
            <a:ext cx="5199698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22"/>
              </a:lnSpc>
              <a:buNone/>
            </a:pPr>
            <a:r>
              <a:rPr lang="en-US" sz="2625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Collapse animation: 6 voices condense into one slot.</a:t>
            </a:r>
            <a:endParaRPr lang="en-US" sz="2625" dirty="0"/>
          </a:p>
        </p:txBody>
      </p:sp>
      <p:sp>
        <p:nvSpPr>
          <p:cNvPr id="15" name="Text 11"/>
          <p:cNvSpPr/>
          <p:nvPr/>
        </p:nvSpPr>
        <p:spPr>
          <a:xfrm>
            <a:off x="11811000" y="4386263"/>
            <a:ext cx="5524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3750" dirty="0"/>
          </a:p>
        </p:txBody>
      </p:sp>
      <p:sp>
        <p:nvSpPr>
          <p:cNvPr id="16" name="Shape 12"/>
          <p:cNvSpPr/>
          <p:nvPr/>
        </p:nvSpPr>
        <p:spPr>
          <a:xfrm>
            <a:off x="12430125" y="2909888"/>
            <a:ext cx="5048250" cy="4257675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33338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67352" dir="27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0125" y="2909888"/>
            <a:ext cx="5048250" cy="42576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430125" y="7286625"/>
            <a:ext cx="5553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2A-3</a:t>
            </a:r>
            <a:endParaRPr lang="en-US" sz="1875" dirty="0"/>
          </a:p>
        </p:txBody>
      </p:sp>
      <p:sp>
        <p:nvSpPr>
          <p:cNvPr id="19" name="Text 14"/>
          <p:cNvSpPr/>
          <p:nvPr/>
        </p:nvSpPr>
        <p:spPr>
          <a:xfrm>
            <a:off x="12430125" y="7681912"/>
            <a:ext cx="5199698" cy="1266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22"/>
              </a:lnSpc>
              <a:buNone/>
            </a:pPr>
            <a:r>
              <a:rPr lang="en-US" sz="2625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Copy arrives after the motion. Best for the marketing/video moment; heaviest in daily use.</a:t>
            </a:r>
            <a:endParaRPr lang="en-US" sz="26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42963"/>
            <a:ext cx="634603" cy="466725"/>
          </a:xfrm>
          <a:prstGeom prst="roundRect">
            <a:avLst>
              <a:gd name="adj" fmla="val 16327"/>
            </a:avLst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919162"/>
            <a:ext cx="4060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2b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815703" y="762000"/>
            <a:ext cx="639978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88"/>
              </a:lnSpc>
              <a:buNone/>
            </a:pPr>
            <a:r>
              <a:rPr lang="en-US" sz="4500" dirty="0">
                <a:solidFill>
                  <a:srgbClr val="1A1A1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Reveal riff B · Grid-anchored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1524000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000000">
                    <a:alpha val="60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the answer lands in place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809625" y="3114675"/>
            <a:ext cx="5048250" cy="4257675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33338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67352" dir="27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" y="3114675"/>
            <a:ext cx="5048250" cy="42576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9625" y="7491413"/>
            <a:ext cx="5553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2B-1</a:t>
            </a:r>
            <a:endParaRPr lang="en-US" sz="1875" dirty="0"/>
          </a:p>
        </p:txBody>
      </p:sp>
      <p:sp>
        <p:nvSpPr>
          <p:cNvPr id="9" name="Text 6"/>
          <p:cNvSpPr/>
          <p:nvPr/>
        </p:nvSpPr>
        <p:spPr>
          <a:xfrm>
            <a:off x="809625" y="7886700"/>
            <a:ext cx="5199698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22"/>
              </a:lnSpc>
              <a:buNone/>
            </a:pPr>
            <a:r>
              <a:rPr lang="en-US" sz="2625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Orb shrinks and docks onto the winning cell — context never leaves the grid.</a:t>
            </a:r>
            <a:endParaRPr lang="en-US" sz="2625" dirty="0"/>
          </a:p>
        </p:txBody>
      </p:sp>
      <p:sp>
        <p:nvSpPr>
          <p:cNvPr id="10" name="Text 7"/>
          <p:cNvSpPr/>
          <p:nvPr/>
        </p:nvSpPr>
        <p:spPr>
          <a:xfrm>
            <a:off x="6000750" y="4591050"/>
            <a:ext cx="5524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3750" dirty="0"/>
          </a:p>
        </p:txBody>
      </p:sp>
      <p:sp>
        <p:nvSpPr>
          <p:cNvPr id="11" name="Shape 8"/>
          <p:cNvSpPr/>
          <p:nvPr/>
        </p:nvSpPr>
        <p:spPr>
          <a:xfrm>
            <a:off x="6619875" y="3114675"/>
            <a:ext cx="5048250" cy="4257675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33338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67352" dir="27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75" y="3114675"/>
            <a:ext cx="5048250" cy="42576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19875" y="7491413"/>
            <a:ext cx="5553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2B-2</a:t>
            </a:r>
            <a:endParaRPr lang="en-US" sz="1875" dirty="0"/>
          </a:p>
        </p:txBody>
      </p:sp>
      <p:sp>
        <p:nvSpPr>
          <p:cNvPr id="14" name="Text 10"/>
          <p:cNvSpPr/>
          <p:nvPr/>
        </p:nvSpPr>
        <p:spPr>
          <a:xfrm>
            <a:off x="6619875" y="7886700"/>
            <a:ext cx="5199698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22"/>
              </a:lnSpc>
              <a:buNone/>
            </a:pPr>
            <a:r>
              <a:rPr lang="en-US" sz="2625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Popover on the cell; "Why not Wed?" invites interrogating any other slot.</a:t>
            </a:r>
            <a:endParaRPr lang="en-US" sz="2625" dirty="0"/>
          </a:p>
        </p:txBody>
      </p:sp>
      <p:sp>
        <p:nvSpPr>
          <p:cNvPr id="15" name="Text 11"/>
          <p:cNvSpPr/>
          <p:nvPr/>
        </p:nvSpPr>
        <p:spPr>
          <a:xfrm>
            <a:off x="11811000" y="4591050"/>
            <a:ext cx="5524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3750" dirty="0"/>
          </a:p>
        </p:txBody>
      </p:sp>
      <p:sp>
        <p:nvSpPr>
          <p:cNvPr id="16" name="Shape 12"/>
          <p:cNvSpPr/>
          <p:nvPr/>
        </p:nvSpPr>
        <p:spPr>
          <a:xfrm>
            <a:off x="12430125" y="3114675"/>
            <a:ext cx="5048250" cy="4257675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33338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67352" dir="27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0125" y="3114675"/>
            <a:ext cx="5048250" cy="42576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430125" y="7491413"/>
            <a:ext cx="5553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2B-3</a:t>
            </a:r>
            <a:endParaRPr lang="en-US" sz="1875" dirty="0"/>
          </a:p>
        </p:txBody>
      </p:sp>
      <p:sp>
        <p:nvSpPr>
          <p:cNvPr id="19" name="Text 14"/>
          <p:cNvSpPr/>
          <p:nvPr/>
        </p:nvSpPr>
        <p:spPr>
          <a:xfrm>
            <a:off x="12430125" y="7886700"/>
            <a:ext cx="5199698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22"/>
              </a:lnSpc>
              <a:buNone/>
            </a:pPr>
            <a:r>
              <a:rPr lang="en-US" sz="2625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Calmest option; the grid itself becomes the confirmation. Best for daily use.</a:t>
            </a:r>
            <a:endParaRPr lang="en-US" sz="26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42963"/>
            <a:ext cx="634603" cy="466725"/>
          </a:xfrm>
          <a:prstGeom prst="roundRect">
            <a:avLst>
              <a:gd name="adj" fmla="val 16327"/>
            </a:avLst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919162"/>
            <a:ext cx="4060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2c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815703" y="762000"/>
            <a:ext cx="6075313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88"/>
              </a:lnSpc>
              <a:buNone/>
            </a:pPr>
            <a:r>
              <a:rPr lang="en-US" sz="4500" dirty="0">
                <a:solidFill>
                  <a:srgbClr val="1A1A1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Reveal riff C · Ledger panel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1524000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000000">
                    <a:alpha val="60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proposal + reasoning side by side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809625" y="2909888"/>
            <a:ext cx="5048250" cy="4257675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33338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67352" dir="27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" y="2909888"/>
            <a:ext cx="5048250" cy="42576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9625" y="7286625"/>
            <a:ext cx="5553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2C-1</a:t>
            </a:r>
            <a:endParaRPr lang="en-US" sz="1875" dirty="0"/>
          </a:p>
        </p:txBody>
      </p:sp>
      <p:sp>
        <p:nvSpPr>
          <p:cNvPr id="9" name="Text 6"/>
          <p:cNvSpPr/>
          <p:nvPr/>
        </p:nvSpPr>
        <p:spPr>
          <a:xfrm>
            <a:off x="809625" y="7681912"/>
            <a:ext cx="5199698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22"/>
              </a:lnSpc>
              <a:buNone/>
            </a:pPr>
            <a:r>
              <a:rPr lang="en-US" sz="2625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Ranked ledger always visible — top pick bold, runners-up honest about who they miss.</a:t>
            </a:r>
            <a:endParaRPr lang="en-US" sz="2625" dirty="0"/>
          </a:p>
        </p:txBody>
      </p:sp>
      <p:sp>
        <p:nvSpPr>
          <p:cNvPr id="10" name="Text 7"/>
          <p:cNvSpPr/>
          <p:nvPr/>
        </p:nvSpPr>
        <p:spPr>
          <a:xfrm>
            <a:off x="6000750" y="4386263"/>
            <a:ext cx="5524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3750" dirty="0"/>
          </a:p>
        </p:txBody>
      </p:sp>
      <p:sp>
        <p:nvSpPr>
          <p:cNvPr id="11" name="Shape 8"/>
          <p:cNvSpPr/>
          <p:nvPr/>
        </p:nvSpPr>
        <p:spPr>
          <a:xfrm>
            <a:off x="6619875" y="2909888"/>
            <a:ext cx="5048250" cy="4257675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33338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67352" dir="27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75" y="2909888"/>
            <a:ext cx="5048250" cy="42576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19875" y="7286625"/>
            <a:ext cx="5553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2C-2</a:t>
            </a:r>
            <a:endParaRPr lang="en-US" sz="1875" dirty="0"/>
          </a:p>
        </p:txBody>
      </p:sp>
      <p:sp>
        <p:nvSpPr>
          <p:cNvPr id="14" name="Text 10"/>
          <p:cNvSpPr/>
          <p:nvPr/>
        </p:nvSpPr>
        <p:spPr>
          <a:xfrm>
            <a:off x="6619875" y="7681912"/>
            <a:ext cx="5199698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22"/>
              </a:lnSpc>
              <a:buNone/>
            </a:pPr>
            <a:r>
              <a:rPr lang="en-US" sz="2625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Tap any alternate to see its tradeoffs — reasoning is browsable, not just a ⓘ.</a:t>
            </a:r>
            <a:endParaRPr lang="en-US" sz="2625" dirty="0"/>
          </a:p>
        </p:txBody>
      </p:sp>
      <p:sp>
        <p:nvSpPr>
          <p:cNvPr id="15" name="Text 11"/>
          <p:cNvSpPr/>
          <p:nvPr/>
        </p:nvSpPr>
        <p:spPr>
          <a:xfrm>
            <a:off x="11811000" y="4386263"/>
            <a:ext cx="5524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3750" dirty="0"/>
          </a:p>
        </p:txBody>
      </p:sp>
      <p:sp>
        <p:nvSpPr>
          <p:cNvPr id="16" name="Shape 12"/>
          <p:cNvSpPr/>
          <p:nvPr/>
        </p:nvSpPr>
        <p:spPr>
          <a:xfrm>
            <a:off x="12430125" y="2909888"/>
            <a:ext cx="5048250" cy="4257675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33338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67352" dir="27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0125" y="2909888"/>
            <a:ext cx="5048250" cy="42576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430125" y="7286625"/>
            <a:ext cx="5553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2C-3</a:t>
            </a:r>
            <a:endParaRPr lang="en-US" sz="1875" dirty="0"/>
          </a:p>
        </p:txBody>
      </p:sp>
      <p:sp>
        <p:nvSpPr>
          <p:cNvPr id="19" name="Text 14"/>
          <p:cNvSpPr/>
          <p:nvPr/>
        </p:nvSpPr>
        <p:spPr>
          <a:xfrm>
            <a:off x="12430125" y="7681912"/>
            <a:ext cx="5199698" cy="1266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22"/>
              </a:lnSpc>
              <a:buNone/>
            </a:pPr>
            <a:r>
              <a:rPr lang="en-US" sz="2625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Organizer can overrule the AI; it acknowledges without arguing. Most control, most chrome.</a:t>
            </a:r>
            <a:endParaRPr lang="en-US" sz="26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42963"/>
            <a:ext cx="634603" cy="466725"/>
          </a:xfrm>
          <a:prstGeom prst="roundRect">
            <a:avLst>
              <a:gd name="adj" fmla="val 16327"/>
            </a:avLst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919162"/>
            <a:ext cx="4060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815703" y="762000"/>
            <a:ext cx="5441752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88"/>
              </a:lnSpc>
              <a:buNone/>
            </a:pPr>
            <a:r>
              <a:rPr lang="en-US" sz="4500" dirty="0">
                <a:solidFill>
                  <a:srgbClr val="1A1A1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Mobile invitee view of 1c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1524000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000000">
                    <a:alpha val="60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thumb-first paint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3239244" y="2773710"/>
            <a:ext cx="2480221" cy="4781550"/>
          </a:xfrm>
          <a:prstGeom prst="roundRect">
            <a:avLst>
              <a:gd name="adj" fmla="val 11099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55229" dir="27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244" y="2773710"/>
            <a:ext cx="2480221" cy="47815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39244" y="7653337"/>
            <a:ext cx="27282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2D-1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239244" y="8018115"/>
            <a:ext cx="2556421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635"/>
              </a:lnSpc>
              <a:buNone/>
            </a:pPr>
            <a:r>
              <a:rPr lang="en-US" sz="2167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One day per screen, 3 columns — cells ≥44px tall for thumbs.</a:t>
            </a:r>
            <a:endParaRPr lang="en-US" sz="2167" dirty="0"/>
          </a:p>
        </p:txBody>
      </p:sp>
      <p:sp>
        <p:nvSpPr>
          <p:cNvPr id="10" name="Text 7"/>
          <p:cNvSpPr/>
          <p:nvPr/>
        </p:nvSpPr>
        <p:spPr>
          <a:xfrm>
            <a:off x="5837486" y="4545360"/>
            <a:ext cx="46970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97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3097" dirty="0"/>
          </a:p>
        </p:txBody>
      </p:sp>
      <p:sp>
        <p:nvSpPr>
          <p:cNvPr id="11" name="Shape 8"/>
          <p:cNvSpPr/>
          <p:nvPr/>
        </p:nvSpPr>
        <p:spPr>
          <a:xfrm>
            <a:off x="6349008" y="2773710"/>
            <a:ext cx="2480221" cy="4781550"/>
          </a:xfrm>
          <a:prstGeom prst="roundRect">
            <a:avLst>
              <a:gd name="adj" fmla="val 11099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55229" dir="27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008" y="2773710"/>
            <a:ext cx="2480221" cy="47815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49008" y="7653337"/>
            <a:ext cx="27282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2D-2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349008" y="8018115"/>
            <a:ext cx="2556421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635"/>
              </a:lnSpc>
              <a:buNone/>
            </a:pPr>
            <a:r>
              <a:rPr lang="en-US" sz="2167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Thumb-paint; long-press toggles the half-state instead of a mode switch.</a:t>
            </a:r>
            <a:endParaRPr lang="en-US" sz="2167" dirty="0"/>
          </a:p>
        </p:txBody>
      </p:sp>
      <p:sp>
        <p:nvSpPr>
          <p:cNvPr id="15" name="Text 11"/>
          <p:cNvSpPr/>
          <p:nvPr/>
        </p:nvSpPr>
        <p:spPr>
          <a:xfrm>
            <a:off x="8947249" y="4545360"/>
            <a:ext cx="46970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97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3097" dirty="0"/>
          </a:p>
        </p:txBody>
      </p:sp>
      <p:sp>
        <p:nvSpPr>
          <p:cNvPr id="16" name="Shape 12"/>
          <p:cNvSpPr/>
          <p:nvPr/>
        </p:nvSpPr>
        <p:spPr>
          <a:xfrm>
            <a:off x="9458771" y="2773710"/>
            <a:ext cx="2480221" cy="4781550"/>
          </a:xfrm>
          <a:prstGeom prst="roundRect">
            <a:avLst>
              <a:gd name="adj" fmla="val 11099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55229" dir="27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771" y="2773710"/>
            <a:ext cx="2480221" cy="47815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58771" y="7653337"/>
            <a:ext cx="27282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2D-3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9458771" y="8018115"/>
            <a:ext cx="255642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635"/>
              </a:lnSpc>
              <a:buNone/>
            </a:pPr>
            <a:r>
              <a:rPr lang="en-US" sz="2167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Nudge as a bottom sheet — full-width tap targets.</a:t>
            </a:r>
            <a:endParaRPr lang="en-US" sz="2167" dirty="0"/>
          </a:p>
        </p:txBody>
      </p:sp>
      <p:sp>
        <p:nvSpPr>
          <p:cNvPr id="20" name="Text 15"/>
          <p:cNvSpPr/>
          <p:nvPr/>
        </p:nvSpPr>
        <p:spPr>
          <a:xfrm>
            <a:off x="12057013" y="4545360"/>
            <a:ext cx="46970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97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3097" dirty="0"/>
          </a:p>
        </p:txBody>
      </p:sp>
      <p:sp>
        <p:nvSpPr>
          <p:cNvPr id="21" name="Shape 16"/>
          <p:cNvSpPr/>
          <p:nvPr/>
        </p:nvSpPr>
        <p:spPr>
          <a:xfrm>
            <a:off x="12568535" y="2773710"/>
            <a:ext cx="2480221" cy="4781550"/>
          </a:xfrm>
          <a:prstGeom prst="roundRect">
            <a:avLst>
              <a:gd name="adj" fmla="val 11099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55229" dir="2700000">
              <a:srgbClr val="000000">
                <a:alpha val="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8535" y="2773710"/>
            <a:ext cx="2480221" cy="47815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568535" y="7653337"/>
            <a:ext cx="27282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2D-4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12568535" y="8018115"/>
            <a:ext cx="255642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635"/>
              </a:lnSpc>
              <a:buNone/>
            </a:pPr>
            <a:r>
              <a:rPr lang="en-US" sz="2167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Done state fits one screen; orb is the receipt.</a:t>
            </a:r>
            <a:endParaRPr lang="en-US" sz="2167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42963"/>
            <a:ext cx="634603" cy="466725"/>
          </a:xfrm>
          <a:prstGeom prst="roundRect">
            <a:avLst>
              <a:gd name="adj" fmla="val 16327"/>
            </a:avLst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919162"/>
            <a:ext cx="4060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815703" y="762000"/>
            <a:ext cx="52895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88"/>
              </a:lnSpc>
              <a:buNone/>
            </a:pPr>
            <a:r>
              <a:rPr lang="en-US" sz="4500" dirty="0">
                <a:solidFill>
                  <a:srgbClr val="1A1A1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Reschedule 1e expanded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1524000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000000">
                    <a:alpha val="60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the keep-partial path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795040" y="36506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040" y="3650605"/>
            <a:ext cx="3750915" cy="31611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040" y="69002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2E-1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95040" y="7255520"/>
            <a:ext cx="386344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Third path added: keep the slot, keep Diego — just not live.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4651623" y="4747766"/>
            <a:ext cx="4296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82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782" dirty="0"/>
          </a:p>
        </p:txBody>
      </p:sp>
      <p:sp>
        <p:nvSpPr>
          <p:cNvPr id="11" name="Shape 8"/>
          <p:cNvSpPr/>
          <p:nvPr/>
        </p:nvSpPr>
        <p:spPr>
          <a:xfrm>
            <a:off x="5110758" y="36506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758" y="3650605"/>
            <a:ext cx="3750915" cy="316110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10758" y="69002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2E-2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110758" y="7255520"/>
            <a:ext cx="386344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Partial = a defined contract, not a shrug. Dashed-gold avatar marks async attendance.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8967341" y="4747766"/>
            <a:ext cx="4296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82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782" dirty="0"/>
          </a:p>
        </p:txBody>
      </p:sp>
      <p:sp>
        <p:nvSpPr>
          <p:cNvPr id="16" name="Shape 12"/>
          <p:cNvSpPr/>
          <p:nvPr/>
        </p:nvSpPr>
        <p:spPr>
          <a:xfrm>
            <a:off x="9426476" y="36506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476" y="3650605"/>
            <a:ext cx="3750915" cy="316110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26476" y="69002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2E-3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9426476" y="7255520"/>
            <a:ext cx="386344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The lock state honestly shows it's 5-live-1-async — certainty with an asterisk.</a:t>
            </a:r>
            <a:endParaRPr lang="en-US" sz="1950" dirty="0"/>
          </a:p>
        </p:txBody>
      </p:sp>
      <p:sp>
        <p:nvSpPr>
          <p:cNvPr id="20" name="Text 15"/>
          <p:cNvSpPr/>
          <p:nvPr/>
        </p:nvSpPr>
        <p:spPr>
          <a:xfrm>
            <a:off x="13283059" y="4747766"/>
            <a:ext cx="4296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82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782" dirty="0"/>
          </a:p>
        </p:txBody>
      </p:sp>
      <p:sp>
        <p:nvSpPr>
          <p:cNvPr id="21" name="Shape 16"/>
          <p:cNvSpPr/>
          <p:nvPr/>
        </p:nvSpPr>
        <p:spPr>
          <a:xfrm>
            <a:off x="13742194" y="36506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2194" y="3650605"/>
            <a:ext cx="3750915" cy="316110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42194" y="69002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2E-4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13742194" y="7255520"/>
            <a:ext cx="386344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Loop closes post-meeting; the orb only fully settles when the async voice lands.</a:t>
            </a:r>
            <a:endParaRPr lang="en-US" sz="1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42963"/>
            <a:ext cx="634603" cy="466725"/>
          </a:xfrm>
          <a:prstGeom prst="roundRect">
            <a:avLst>
              <a:gd name="adj" fmla="val 16327"/>
            </a:avLst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919162"/>
            <a:ext cx="4060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2f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815703" y="762000"/>
            <a:ext cx="600360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88"/>
              </a:lnSpc>
              <a:buNone/>
            </a:pPr>
            <a:r>
              <a:rPr lang="en-US" sz="4500" dirty="0">
                <a:solidFill>
                  <a:srgbClr val="1A1A1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New CUJ · No common slot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1524000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000000">
                    <a:alpha val="60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AI negotiates a flex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795040" y="38030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040" y="3803005"/>
            <a:ext cx="3750915" cy="31611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040" y="70526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2F-1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95040" y="7407920"/>
            <a:ext cx="386344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Failure state has its own motion: the orb visibly can't converge.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4651623" y="4900166"/>
            <a:ext cx="4296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82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782" dirty="0"/>
          </a:p>
        </p:txBody>
      </p:sp>
      <p:sp>
        <p:nvSpPr>
          <p:cNvPr id="11" name="Shape 8"/>
          <p:cNvSpPr/>
          <p:nvPr/>
        </p:nvSpPr>
        <p:spPr>
          <a:xfrm>
            <a:off x="5110758" y="38030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758" y="3803005"/>
            <a:ext cx="3750915" cy="316110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10758" y="70526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2F-2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110758" y="7407920"/>
            <a:ext cx="386344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AI names the cheapest ask, but the human sends it — no auto-nagging.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8967341" y="4900166"/>
            <a:ext cx="4296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82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782" dirty="0"/>
          </a:p>
        </p:txBody>
      </p:sp>
      <p:sp>
        <p:nvSpPr>
          <p:cNvPr id="16" name="Shape 12"/>
          <p:cNvSpPr/>
          <p:nvPr/>
        </p:nvSpPr>
        <p:spPr>
          <a:xfrm>
            <a:off x="9426476" y="38030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476" y="3803005"/>
            <a:ext cx="3750915" cy="316110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26476" y="70526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2F-3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9426476" y="7407920"/>
            <a:ext cx="386344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One-tap flex request on the invitee side; "Can't" is a first-class answer.</a:t>
            </a:r>
            <a:endParaRPr lang="en-US" sz="1950" dirty="0"/>
          </a:p>
        </p:txBody>
      </p:sp>
      <p:sp>
        <p:nvSpPr>
          <p:cNvPr id="20" name="Text 15"/>
          <p:cNvSpPr/>
          <p:nvPr/>
        </p:nvSpPr>
        <p:spPr>
          <a:xfrm>
            <a:off x="13283059" y="4900166"/>
            <a:ext cx="4296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82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782" dirty="0"/>
          </a:p>
        </p:txBody>
      </p:sp>
      <p:sp>
        <p:nvSpPr>
          <p:cNvPr id="21" name="Shape 16"/>
          <p:cNvSpPr/>
          <p:nvPr/>
        </p:nvSpPr>
        <p:spPr>
          <a:xfrm>
            <a:off x="13742194" y="38030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2194" y="3803005"/>
            <a:ext cx="3750915" cy="316110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42194" y="70526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2F-4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13742194" y="7407920"/>
            <a:ext cx="386344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Both exits converge on known states — negotiate or degrade gracefully.</a:t>
            </a:r>
            <a:endParaRPr lang="en-US" sz="1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42963"/>
            <a:ext cx="634603" cy="466725"/>
          </a:xfrm>
          <a:prstGeom prst="roundRect">
            <a:avLst>
              <a:gd name="adj" fmla="val 16327"/>
            </a:avLst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919162"/>
            <a:ext cx="4060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815703" y="762000"/>
            <a:ext cx="765381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88"/>
              </a:lnSpc>
              <a:buNone/>
            </a:pPr>
            <a:r>
              <a:rPr lang="en-US" sz="4500" dirty="0">
                <a:solidFill>
                  <a:srgbClr val="1A1A1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New CUJ · Add attendee after lock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1524000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000000">
                    <a:alpha val="60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drag onto the star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809625" y="2909888"/>
            <a:ext cx="5048250" cy="4257675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33338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67352" dir="27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" y="2909888"/>
            <a:ext cx="5048250" cy="42576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9625" y="7286625"/>
            <a:ext cx="5553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2G-1</a:t>
            </a:r>
            <a:endParaRPr lang="en-US" sz="1875" dirty="0"/>
          </a:p>
        </p:txBody>
      </p:sp>
      <p:sp>
        <p:nvSpPr>
          <p:cNvPr id="9" name="Text 6"/>
          <p:cNvSpPr/>
          <p:nvPr/>
        </p:nvSpPr>
        <p:spPr>
          <a:xfrm>
            <a:off x="809625" y="7681912"/>
            <a:ext cx="5199698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22"/>
              </a:lnSpc>
              <a:buNone/>
            </a:pPr>
            <a:r>
              <a:rPr lang="en-US" sz="2625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In the meeting graph, adding = dragging a person onto the locked star.</a:t>
            </a:r>
            <a:endParaRPr lang="en-US" sz="2625" dirty="0"/>
          </a:p>
        </p:txBody>
      </p:sp>
      <p:sp>
        <p:nvSpPr>
          <p:cNvPr id="10" name="Text 7"/>
          <p:cNvSpPr/>
          <p:nvPr/>
        </p:nvSpPr>
        <p:spPr>
          <a:xfrm>
            <a:off x="6000750" y="4386263"/>
            <a:ext cx="5524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3750" dirty="0"/>
          </a:p>
        </p:txBody>
      </p:sp>
      <p:sp>
        <p:nvSpPr>
          <p:cNvPr id="11" name="Shape 8"/>
          <p:cNvSpPr/>
          <p:nvPr/>
        </p:nvSpPr>
        <p:spPr>
          <a:xfrm>
            <a:off x="6619875" y="2909888"/>
            <a:ext cx="5048250" cy="4257675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33338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67352" dir="27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75" y="2909888"/>
            <a:ext cx="5048250" cy="42576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19875" y="7286625"/>
            <a:ext cx="5553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2G-2</a:t>
            </a:r>
            <a:endParaRPr lang="en-US" sz="1875" dirty="0"/>
          </a:p>
        </p:txBody>
      </p:sp>
      <p:sp>
        <p:nvSpPr>
          <p:cNvPr id="14" name="Text 10"/>
          <p:cNvSpPr/>
          <p:nvPr/>
        </p:nvSpPr>
        <p:spPr>
          <a:xfrm>
            <a:off x="6619875" y="7681912"/>
            <a:ext cx="5199698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22"/>
              </a:lnSpc>
              <a:buNone/>
            </a:pPr>
            <a:r>
              <a:rPr lang="en-US" sz="2625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Happy path: calendar check passes, gold stays gold.</a:t>
            </a:r>
            <a:endParaRPr lang="en-US" sz="2625" dirty="0"/>
          </a:p>
        </p:txBody>
      </p:sp>
      <p:sp>
        <p:nvSpPr>
          <p:cNvPr id="15" name="Text 11"/>
          <p:cNvSpPr/>
          <p:nvPr/>
        </p:nvSpPr>
        <p:spPr>
          <a:xfrm>
            <a:off x="11811000" y="4386263"/>
            <a:ext cx="5524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3750" dirty="0"/>
          </a:p>
        </p:txBody>
      </p:sp>
      <p:sp>
        <p:nvSpPr>
          <p:cNvPr id="16" name="Shape 12"/>
          <p:cNvSpPr/>
          <p:nvPr/>
        </p:nvSpPr>
        <p:spPr>
          <a:xfrm>
            <a:off x="12430125" y="2909888"/>
            <a:ext cx="5048250" cy="4257675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33338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67352" dir="27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0125" y="2909888"/>
            <a:ext cx="5048250" cy="42576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430125" y="7286625"/>
            <a:ext cx="5553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2G-3</a:t>
            </a:r>
            <a:endParaRPr lang="en-US" sz="1875" dirty="0"/>
          </a:p>
        </p:txBody>
      </p:sp>
      <p:sp>
        <p:nvSpPr>
          <p:cNvPr id="19" name="Text 14"/>
          <p:cNvSpPr/>
          <p:nvPr/>
        </p:nvSpPr>
        <p:spPr>
          <a:xfrm>
            <a:off x="12430125" y="7681912"/>
            <a:ext cx="5199698" cy="1266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22"/>
              </a:lnSpc>
              <a:buNone/>
            </a:pPr>
            <a:r>
              <a:rPr lang="en-US" sz="2625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Conflict path routes into existing loops — optional uses the </a:t>
            </a:r>
            <a:pPr algn="l" indent="0" marL="0">
              <a:lnSpc>
                <a:spcPct val="97222"/>
              </a:lnSpc>
              <a:buNone/>
            </a:pPr>
            <a:r>
              <a:rPr lang="en-US" sz="2100" b="1" dirty="0">
                <a:solidFill>
                  <a:srgbClr val="1A1A1A"/>
                </a:solidFill>
                <a:highlight>
                  <a:srgbClr val="EBEBE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2e </a:t>
            </a:r>
            <a:pPr algn="l" indent="0" marL="0">
              <a:lnSpc>
                <a:spcPct val="97222"/>
              </a:lnSpc>
              <a:buNone/>
            </a:pPr>
            <a:r>
              <a:rPr lang="en-US" sz="2625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contract, re-run enters </a:t>
            </a:r>
            <a:pPr algn="l" indent="0" marL="0">
              <a:lnSpc>
                <a:spcPct val="97222"/>
              </a:lnSpc>
              <a:buNone/>
            </a:pPr>
            <a:r>
              <a:rPr lang="en-US" sz="2100" b="1" dirty="0">
                <a:solidFill>
                  <a:srgbClr val="1A1A1A"/>
                </a:solidFill>
                <a:highlight>
                  <a:srgbClr val="EBEBE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</a:t>
            </a:r>
            <a:pPr algn="l" indent="0" marL="0">
              <a:lnSpc>
                <a:spcPct val="97222"/>
              </a:lnSpc>
              <a:buNone/>
            </a:pPr>
            <a:r>
              <a:rPr lang="en-US" sz="2625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.</a:t>
            </a:r>
            <a:endParaRPr lang="en-US" sz="26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42963"/>
            <a:ext cx="634603" cy="466725"/>
          </a:xfrm>
          <a:prstGeom prst="roundRect">
            <a:avLst>
              <a:gd name="adj" fmla="val 16327"/>
            </a:avLst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919162"/>
            <a:ext cx="4060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2h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815703" y="762000"/>
            <a:ext cx="6089883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88"/>
              </a:lnSpc>
              <a:buNone/>
            </a:pPr>
            <a:r>
              <a:rPr lang="en-US" sz="4500" dirty="0">
                <a:solidFill>
                  <a:srgbClr val="1A1A1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New CUJ · Recurring series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1524000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000000">
                    <a:alpha val="60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one nebula per occurrence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809625" y="2909888"/>
            <a:ext cx="5048250" cy="4257675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33338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67352" dir="27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" y="2909888"/>
            <a:ext cx="5048250" cy="42576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9625" y="7286625"/>
            <a:ext cx="5553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2H-1</a:t>
            </a:r>
            <a:endParaRPr lang="en-US" sz="1875" dirty="0"/>
          </a:p>
        </p:txBody>
      </p:sp>
      <p:sp>
        <p:nvSpPr>
          <p:cNvPr id="9" name="Text 6"/>
          <p:cNvSpPr/>
          <p:nvPr/>
        </p:nvSpPr>
        <p:spPr>
          <a:xfrm>
            <a:off x="809625" y="7681912"/>
            <a:ext cx="5199698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22"/>
              </a:lnSpc>
              <a:buNone/>
            </a:pPr>
            <a:r>
              <a:rPr lang="en-US" sz="2625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Series offer only after a successful single lock — cadence is earned, not default.</a:t>
            </a:r>
            <a:endParaRPr lang="en-US" sz="2625" dirty="0"/>
          </a:p>
        </p:txBody>
      </p:sp>
      <p:sp>
        <p:nvSpPr>
          <p:cNvPr id="10" name="Text 7"/>
          <p:cNvSpPr/>
          <p:nvPr/>
        </p:nvSpPr>
        <p:spPr>
          <a:xfrm>
            <a:off x="6000750" y="4386263"/>
            <a:ext cx="5524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3750" dirty="0"/>
          </a:p>
        </p:txBody>
      </p:sp>
      <p:sp>
        <p:nvSpPr>
          <p:cNvPr id="11" name="Shape 8"/>
          <p:cNvSpPr/>
          <p:nvPr/>
        </p:nvSpPr>
        <p:spPr>
          <a:xfrm>
            <a:off x="6619875" y="2909888"/>
            <a:ext cx="5048250" cy="4257675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33338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67352" dir="27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75" y="2909888"/>
            <a:ext cx="5048250" cy="42576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19875" y="7286625"/>
            <a:ext cx="5553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2H-2</a:t>
            </a:r>
            <a:endParaRPr lang="en-US" sz="1875" dirty="0"/>
          </a:p>
        </p:txBody>
      </p:sp>
      <p:sp>
        <p:nvSpPr>
          <p:cNvPr id="14" name="Text 10"/>
          <p:cNvSpPr/>
          <p:nvPr/>
        </p:nvSpPr>
        <p:spPr>
          <a:xfrm>
            <a:off x="6619875" y="7681912"/>
            <a:ext cx="5199698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22"/>
              </a:lnSpc>
              <a:buNone/>
            </a:pPr>
            <a:r>
              <a:rPr lang="en-US" sz="2625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Each occurrence carries its own state; the amber one needs attention.</a:t>
            </a:r>
            <a:endParaRPr lang="en-US" sz="2625" dirty="0"/>
          </a:p>
        </p:txBody>
      </p:sp>
      <p:sp>
        <p:nvSpPr>
          <p:cNvPr id="15" name="Text 11"/>
          <p:cNvSpPr/>
          <p:nvPr/>
        </p:nvSpPr>
        <p:spPr>
          <a:xfrm>
            <a:off x="11811000" y="4386263"/>
            <a:ext cx="5524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3750" dirty="0"/>
          </a:p>
        </p:txBody>
      </p:sp>
      <p:sp>
        <p:nvSpPr>
          <p:cNvPr id="16" name="Shape 12"/>
          <p:cNvSpPr/>
          <p:nvPr/>
        </p:nvSpPr>
        <p:spPr>
          <a:xfrm>
            <a:off x="12430125" y="2909888"/>
            <a:ext cx="5048250" cy="4257675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33338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67352" dir="27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0125" y="2909888"/>
            <a:ext cx="5048250" cy="42576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430125" y="7286625"/>
            <a:ext cx="5553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2H-3</a:t>
            </a:r>
            <a:endParaRPr lang="en-US" sz="1875" dirty="0"/>
          </a:p>
        </p:txBody>
      </p:sp>
      <p:sp>
        <p:nvSpPr>
          <p:cNvPr id="19" name="Text 14"/>
          <p:cNvSpPr/>
          <p:nvPr/>
        </p:nvSpPr>
        <p:spPr>
          <a:xfrm>
            <a:off x="12430125" y="7681912"/>
            <a:ext cx="5199698" cy="1266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22"/>
              </a:lnSpc>
              <a:buNone/>
            </a:pPr>
            <a:r>
              <a:rPr lang="en-US" sz="2625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Per-occurrence repair without touching the series — reuses the </a:t>
            </a:r>
            <a:pPr algn="l" indent="0" marL="0">
              <a:lnSpc>
                <a:spcPct val="97222"/>
              </a:lnSpc>
              <a:buNone/>
            </a:pPr>
            <a:r>
              <a:rPr lang="en-US" sz="2100" b="1" dirty="0">
                <a:solidFill>
                  <a:srgbClr val="1A1A1A"/>
                </a:solidFill>
                <a:highlight>
                  <a:srgbClr val="EBEBE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 </a:t>
            </a:r>
            <a:pPr algn="l" indent="0" marL="0">
              <a:lnSpc>
                <a:spcPct val="97222"/>
              </a:lnSpc>
              <a:buNone/>
            </a:pPr>
            <a:r>
              <a:rPr lang="en-US" sz="2625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loop scoped to one orb.</a:t>
            </a:r>
            <a:endParaRPr lang="en-US" sz="26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D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509963"/>
            <a:ext cx="17602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8ED7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3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143000" y="4186238"/>
            <a:ext cx="176022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538"/>
              </a:lnSpc>
              <a:buNone/>
            </a:pPr>
            <a:r>
              <a:rPr lang="en-US" sz="7200" dirty="0">
                <a:solidFill>
                  <a:srgbClr val="FFFFFF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v2 · Breakout blobs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143000" y="5481638"/>
            <a:ext cx="14716125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CFCAC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Extends the 1f graph: drag multiple nodes into a new cluster → it becomes a persistent blob → a live room anyone enters by dragging their node in. Blobs stay until clicked or closed (×). Flagged v2 — wireframed now so the graph physics are built for it.</a:t>
            </a:r>
            <a:endParaRPr lang="en-US" sz="3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42963"/>
            <a:ext cx="634603" cy="466725"/>
          </a:xfrm>
          <a:prstGeom prst="roundRect">
            <a:avLst>
              <a:gd name="adj" fmla="val 16327"/>
            </a:avLst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919162"/>
            <a:ext cx="4060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815703" y="762000"/>
            <a:ext cx="469424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88"/>
              </a:lnSpc>
              <a:buNone/>
            </a:pPr>
            <a:r>
              <a:rPr lang="en-US" sz="4500" dirty="0">
                <a:solidFill>
                  <a:srgbClr val="1A1A1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CUJ v2-1 · Break out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1524000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000000">
                    <a:alpha val="60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two nodes dragged together spawn a blob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795040" y="36506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040" y="3650605"/>
            <a:ext cx="3750915" cy="31611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040" y="69002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3A-1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95040" y="7255520"/>
            <a:ext cx="386344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Inside any meeting graph: pull two+ nodes together — same gesture as the </a:t>
            </a:r>
            <a:pPr algn="l" indent="0" marL="0">
              <a:lnSpc>
                <a:spcPct val="98485"/>
              </a:lnSpc>
              <a:buNone/>
            </a:pPr>
            <a:r>
              <a:rPr lang="en-US" sz="1560" b="1" dirty="0">
                <a:solidFill>
                  <a:srgbClr val="1A1A1A"/>
                </a:solidFill>
                <a:highlight>
                  <a:srgbClr val="EBEBE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1f </a:t>
            </a:r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drop-zones.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4651623" y="4747766"/>
            <a:ext cx="4296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82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782" dirty="0"/>
          </a:p>
        </p:txBody>
      </p:sp>
      <p:sp>
        <p:nvSpPr>
          <p:cNvPr id="11" name="Shape 8"/>
          <p:cNvSpPr/>
          <p:nvPr/>
        </p:nvSpPr>
        <p:spPr>
          <a:xfrm>
            <a:off x="5110758" y="36506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758" y="3650605"/>
            <a:ext cx="3750915" cy="316110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10758" y="69002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3A-2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110758" y="7255520"/>
            <a:ext cx="386344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Proximity + hold spawns a proto-blob — a new mini-nebula, teal and swirling (uncertain: not live yet).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8967341" y="4747766"/>
            <a:ext cx="4296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82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782" dirty="0"/>
          </a:p>
        </p:txBody>
      </p:sp>
      <p:sp>
        <p:nvSpPr>
          <p:cNvPr id="16" name="Shape 12"/>
          <p:cNvSpPr/>
          <p:nvPr/>
        </p:nvSpPr>
        <p:spPr>
          <a:xfrm>
            <a:off x="9426476" y="36506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476" y="3650605"/>
            <a:ext cx="3750915" cy="316110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26476" y="69002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3A-3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9426476" y="7255520"/>
            <a:ext cx="386344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Confirm beat — accidental drags cost nothing. "Blob for later" parks it on the canvas.</a:t>
            </a:r>
            <a:endParaRPr lang="en-US" sz="1950" dirty="0"/>
          </a:p>
        </p:txBody>
      </p:sp>
      <p:sp>
        <p:nvSpPr>
          <p:cNvPr id="20" name="Text 15"/>
          <p:cNvSpPr/>
          <p:nvPr/>
        </p:nvSpPr>
        <p:spPr>
          <a:xfrm>
            <a:off x="13283059" y="4747766"/>
            <a:ext cx="4296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82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782" dirty="0"/>
          </a:p>
        </p:txBody>
      </p:sp>
      <p:sp>
        <p:nvSpPr>
          <p:cNvPr id="21" name="Shape 16"/>
          <p:cNvSpPr/>
          <p:nvPr/>
        </p:nvSpPr>
        <p:spPr>
          <a:xfrm>
            <a:off x="13742194" y="36506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2194" y="3650605"/>
            <a:ext cx="3750915" cy="316110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42194" y="69002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3A-4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13742194" y="7255520"/>
            <a:ext cx="386344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Live blob: solid teal ring, filled member nodes, name label, × in the corner. Rest of graph untouched.</a:t>
            </a:r>
            <a:endParaRPr lang="en-US" sz="1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42963"/>
            <a:ext cx="634603" cy="466725"/>
          </a:xfrm>
          <a:prstGeom prst="roundRect">
            <a:avLst>
              <a:gd name="adj" fmla="val 16327"/>
            </a:avLst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919162"/>
            <a:ext cx="4060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3b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815703" y="762000"/>
            <a:ext cx="527509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88"/>
              </a:lnSpc>
              <a:buNone/>
            </a:pPr>
            <a:r>
              <a:rPr lang="en-US" sz="4500" dirty="0">
                <a:solidFill>
                  <a:srgbClr val="1A1A1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CUJ v2-2 · Join &amp; leave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1524000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000000">
                    <a:alpha val="60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your node is the door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795040" y="36506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040" y="3650605"/>
            <a:ext cx="3750915" cy="31611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040" y="69002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3B-1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95040" y="7255520"/>
            <a:ext cx="386344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Anyone drags their OWN node toward a live blob — the ring brightens as you approach (magnetic).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4651623" y="4747766"/>
            <a:ext cx="4296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82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782" dirty="0"/>
          </a:p>
        </p:txBody>
      </p:sp>
      <p:sp>
        <p:nvSpPr>
          <p:cNvPr id="11" name="Shape 8"/>
          <p:cNvSpPr/>
          <p:nvPr/>
        </p:nvSpPr>
        <p:spPr>
          <a:xfrm>
            <a:off x="5110758" y="36506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758" y="3650605"/>
            <a:ext cx="3750915" cy="316110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10758" y="69002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3B-2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110758" y="7255520"/>
            <a:ext cx="386344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Crossing the ring = entering the room. Video tiles, no join-link ceremony; the graph stays one tap away.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8967341" y="4747766"/>
            <a:ext cx="4296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82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782" dirty="0"/>
          </a:p>
        </p:txBody>
      </p:sp>
      <p:sp>
        <p:nvSpPr>
          <p:cNvPr id="16" name="Shape 12"/>
          <p:cNvSpPr/>
          <p:nvPr/>
        </p:nvSpPr>
        <p:spPr>
          <a:xfrm>
            <a:off x="9426476" y="36506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476" y="3650605"/>
            <a:ext cx="3750915" cy="316110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26476" y="69002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3B-3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9426476" y="7255520"/>
            <a:ext cx="386344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Leaving is the reverse gesture — no "Leave meeting?" dialog. Your node re-settles in the main graph.</a:t>
            </a:r>
            <a:endParaRPr lang="en-US" sz="1950" dirty="0"/>
          </a:p>
        </p:txBody>
      </p:sp>
      <p:sp>
        <p:nvSpPr>
          <p:cNvPr id="20" name="Text 15"/>
          <p:cNvSpPr/>
          <p:nvPr/>
        </p:nvSpPr>
        <p:spPr>
          <a:xfrm>
            <a:off x="13283059" y="4747766"/>
            <a:ext cx="4296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82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782" dirty="0"/>
          </a:p>
        </p:txBody>
      </p:sp>
      <p:sp>
        <p:nvSpPr>
          <p:cNvPr id="21" name="Shape 16"/>
          <p:cNvSpPr/>
          <p:nvPr/>
        </p:nvSpPr>
        <p:spPr>
          <a:xfrm>
            <a:off x="13742194" y="36506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2194" y="3650605"/>
            <a:ext cx="3750915" cy="316110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42194" y="69002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3B-4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13742194" y="7255520"/>
            <a:ext cx="386344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Presence is ambient: the blob shows its occupants live, so joining is informed, never a blind link.</a:t>
            </a:r>
            <a:endParaRPr lang="en-US" sz="1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42963"/>
            <a:ext cx="634603" cy="466725"/>
          </a:xfrm>
          <a:prstGeom prst="roundRect">
            <a:avLst>
              <a:gd name="adj" fmla="val 16327"/>
            </a:avLst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919162"/>
            <a:ext cx="4060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3c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815703" y="762000"/>
            <a:ext cx="5661779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88"/>
              </a:lnSpc>
              <a:buNone/>
            </a:pPr>
            <a:r>
              <a:rPr lang="en-US" sz="4500" dirty="0">
                <a:solidFill>
                  <a:srgbClr val="1A1A1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CUJ v2-3 · Blob lifecycle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1524000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000000">
                    <a:alpha val="60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persists until clicked or ×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795040" y="36506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040" y="3650605"/>
            <a:ext cx="3750915" cy="31611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040" y="69002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3C-1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95040" y="7255520"/>
            <a:ext cx="386344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Empty blobs idle (dashed, slow swirl) but STAY on the canvas — standing rooms, not ephemeral calls.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4651623" y="4747766"/>
            <a:ext cx="4296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82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782" dirty="0"/>
          </a:p>
        </p:txBody>
      </p:sp>
      <p:sp>
        <p:nvSpPr>
          <p:cNvPr id="11" name="Shape 8"/>
          <p:cNvSpPr/>
          <p:nvPr/>
        </p:nvSpPr>
        <p:spPr>
          <a:xfrm>
            <a:off x="5110758" y="36506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758" y="3650605"/>
            <a:ext cx="3750915" cy="316110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10758" y="69002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3C-2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110758" y="7255520"/>
            <a:ext cx="386344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Click = peek card, never auto-join. "Schedule" converts the blob into a full nebula meet (routes to </a:t>
            </a:r>
            <a:pPr algn="l" indent="0" marL="0">
              <a:lnSpc>
                <a:spcPct val="98485"/>
              </a:lnSpc>
              <a:buNone/>
            </a:pPr>
            <a:r>
              <a:rPr lang="en-US" sz="1560" b="1" dirty="0">
                <a:solidFill>
                  <a:srgbClr val="1A1A1A"/>
                </a:solidFill>
                <a:highlight>
                  <a:srgbClr val="EBEBE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1b </a:t>
            </a:r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with members pre-filled).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8967341" y="4747766"/>
            <a:ext cx="4296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82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782" dirty="0"/>
          </a:p>
        </p:txBody>
      </p:sp>
      <p:sp>
        <p:nvSpPr>
          <p:cNvPr id="16" name="Shape 12"/>
          <p:cNvSpPr/>
          <p:nvPr/>
        </p:nvSpPr>
        <p:spPr>
          <a:xfrm>
            <a:off x="9426476" y="36506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476" y="3650605"/>
            <a:ext cx="3750915" cy="316110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26476" y="69002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3C-3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9426476" y="7255520"/>
            <a:ext cx="386344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× closes a blob. If it ever went live, its artifacts fold back into the parent meeting's graph ( </a:t>
            </a:r>
            <a:pPr algn="l" indent="0" marL="0">
              <a:lnSpc>
                <a:spcPct val="98485"/>
              </a:lnSpc>
              <a:buNone/>
            </a:pPr>
            <a:r>
              <a:rPr lang="en-US" sz="1560" b="1" dirty="0">
                <a:solidFill>
                  <a:srgbClr val="1A1A1A"/>
                </a:solidFill>
                <a:highlight>
                  <a:srgbClr val="EBEBE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1f </a:t>
            </a:r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squares) — nothing lost.</a:t>
            </a:r>
            <a:endParaRPr lang="en-US" sz="1950" dirty="0"/>
          </a:p>
        </p:txBody>
      </p:sp>
      <p:sp>
        <p:nvSpPr>
          <p:cNvPr id="20" name="Text 15"/>
          <p:cNvSpPr/>
          <p:nvPr/>
        </p:nvSpPr>
        <p:spPr>
          <a:xfrm>
            <a:off x="13283059" y="4747766"/>
            <a:ext cx="4296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82" b="1" dirty="0">
                <a:solidFill>
                  <a:srgbClr val="000000">
                    <a:alpha val="45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→</a:t>
            </a:r>
            <a:endParaRPr lang="en-US" sz="2782" dirty="0"/>
          </a:p>
        </p:txBody>
      </p:sp>
      <p:sp>
        <p:nvSpPr>
          <p:cNvPr id="21" name="Shape 16"/>
          <p:cNvSpPr/>
          <p:nvPr/>
        </p:nvSpPr>
        <p:spPr>
          <a:xfrm>
            <a:off x="13742194" y="3650605"/>
            <a:ext cx="3750915" cy="3161109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23813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49840" dir="2700000">
              <a:srgbClr val="000000">
                <a:alpha val="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2194" y="3650605"/>
            <a:ext cx="3750915" cy="316110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42194" y="6900267"/>
            <a:ext cx="41260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3C-4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13742194" y="7255520"/>
            <a:ext cx="386344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After close: canvas returns to </a:t>
            </a:r>
            <a:pPr algn="l" indent="0" marL="0">
              <a:lnSpc>
                <a:spcPct val="98485"/>
              </a:lnSpc>
              <a:buNone/>
            </a:pPr>
            <a:r>
              <a:rPr lang="en-US" sz="1560" b="1" dirty="0">
                <a:solidFill>
                  <a:srgbClr val="1A1A1A"/>
                </a:solidFill>
                <a:highlight>
                  <a:srgbClr val="EBEBE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1f </a:t>
            </a:r>
            <a:pPr algn="l" indent="0" marL="0">
              <a:lnSpc>
                <a:spcPct val="98485"/>
              </a:lnSpc>
              <a:buNone/>
            </a:pPr>
            <a:r>
              <a:rPr lang="en-US" sz="1950" dirty="0">
                <a:solidFill>
                  <a:srgbClr val="44444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state plus the artifact — the breakout leaves a trace, not clutter.</a:t>
            </a:r>
            <a:endParaRPr lang="en-US" sz="1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42963"/>
            <a:ext cx="634603" cy="466725"/>
          </a:xfrm>
          <a:prstGeom prst="roundRect">
            <a:avLst>
              <a:gd name="adj" fmla="val 16327"/>
            </a:avLst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919162"/>
            <a:ext cx="4060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815703" y="762000"/>
            <a:ext cx="1853372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488"/>
              </a:lnSpc>
              <a:buNone/>
            </a:pPr>
            <a:r>
              <a:rPr lang="en-US" sz="4500" dirty="0">
                <a:solidFill>
                  <a:srgbClr val="1A1A1A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v1 setup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1524000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000000">
                    <a:alpha val="60000"/>
                  </a:srgbClr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what we build NOW so blobs slot in later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2325142" y="3919686"/>
            <a:ext cx="13637716" cy="3981152"/>
          </a:xfrm>
          <a:prstGeom prst="roundRect">
            <a:avLst>
              <a:gd name="adj" fmla="val 3732"/>
            </a:avLst>
          </a:prstGeom>
          <a:solidFill>
            <a:srgbClr val="FFFFFF"/>
          </a:solidFill>
          <a:ln w="33338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70046" dir="27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5142" y="3919686"/>
            <a:ext cx="13637716" cy="39811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2026-10-08T11:14:07Z</dcterms:created>
  <dcterms:modified xsi:type="dcterms:W3CDTF">2026-10-08T11:14:07Z</dcterms:modified>
</cp:coreProperties>
</file>